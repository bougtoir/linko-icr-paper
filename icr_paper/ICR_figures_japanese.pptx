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latin typeface="Calibri"/>
              </a:defRPr>
            </a:pPr>
            <a:r>
              <a:t>LINKO (Latent Information Normalization for Key Outcomes)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555555"/>
                </a:solidFill>
                <a:latin typeface="Calibri"/>
              </a:defRPr>
            </a:pPr>
            <a:r>
              <a:t>RCTデータ構造の異質性を考慮した</a:t>
            </a:r>
            <a:br/>
            <a:r>
              <a:t>メタ解析プーリングの妥当性評価フレームワーク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latin typeface="Calibri"/>
              </a:defRPr>
            </a:pPr>
            <a:r>
              <a:t>ICR概念: なぜデータ次元が重要か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4114800" cy="548640"/>
          </a:xfrm>
          <a:prstGeom prst="roundRect">
            <a:avLst/>
          </a:prstGeom>
          <a:solidFill>
            <a:srgbClr val="2C3E5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研究A (D = 10)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365760" cy="73152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828800"/>
            <a:ext cx="365760" cy="73152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V9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743200"/>
            <a:ext cx="4114800" cy="457200"/>
          </a:xfrm>
          <a:prstGeom prst="roundRect">
            <a:avLst/>
          </a:prstGeom>
          <a:solidFill>
            <a:srgbClr val="FADBD8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ICR = 1/10 = 0.10 (10%)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57600"/>
            <a:ext cx="9601200" cy="548640"/>
          </a:xfrm>
          <a:prstGeom prst="roundRect">
            <a:avLst/>
          </a:prstGeom>
          <a:solidFill>
            <a:srgbClr val="2C3E5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研究B (D = 50)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389120"/>
            <a:ext cx="338328" cy="4572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98448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82496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66544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50592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8688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2736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86784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0832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38928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22976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07024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91072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59168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43216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27264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11312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79408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63456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747504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31552" y="4389120"/>
            <a:ext cx="338328" cy="457200"/>
          </a:xfrm>
          <a:prstGeom prst="roundRect">
            <a:avLst/>
          </a:prstGeom>
          <a:solidFill>
            <a:srgbClr val="BDC3C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0">
                <a:solidFill>
                  <a:srgbClr val="333333"/>
                </a:solidFill>
                <a:latin typeface="Calibri"/>
              </a:rPr>
              <a:t>...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" y="5029200"/>
            <a:ext cx="9601200" cy="45720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ICR = 1/50 = 0.02 (2%)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286000" y="5669280"/>
            <a:ext cx="7589520" cy="1005840"/>
          </a:xfrm>
          <a:prstGeom prst="roundRect">
            <a:avLst/>
          </a:prstGeom>
          <a:solidFill>
            <a:srgbClr val="F9E79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同じエンドポイント、同じ効果量推定値</a:t>
            </a:r>
          </a:p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→ しかしEPはデータ空間の10% vs 2%</a:t>
            </a:r>
          </a:p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→ ICRD = 0.08 → プーリングは妥当か？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latin typeface="Calibri"/>
              </a:defRPr>
            </a:pPr>
            <a:r>
              <a:t>LINKOフレームワーク概要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822960"/>
            <a:ext cx="4846320" cy="1097280"/>
          </a:xfrm>
          <a:prstGeom prst="roundRect">
            <a:avLst/>
          </a:prstGeom>
          <a:solidFill>
            <a:srgbClr val="2C3E5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LINKO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(Latent Information Normalization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for Key Outcomes)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主要アウトカムのための潜在情報正規化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194560"/>
            <a:ext cx="6309360" cy="82296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核心的問い: エンドポイントはすべての</a:t>
            </a:r>
          </a:p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研究で同じ情報的重みを持つか？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3200400" y="3017520"/>
            <a:ext cx="1371600" cy="45720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589520" y="3017520"/>
            <a:ext cx="1371600" cy="45720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14400" y="3566160"/>
            <a:ext cx="4389120" cy="64008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アプローチ1: 分散ベースICR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389120"/>
            <a:ext cx="4389120" cy="640080"/>
          </a:xfrm>
          <a:prstGeom prst="roundRect">
            <a:avLst/>
          </a:prstGeom>
          <a:solidFill>
            <a:srgbClr val="D6EAF8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ICR_std = d / D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Table 1から計算可能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566160"/>
            <a:ext cx="4389120" cy="64008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アプローチ2: PCAベースICR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389120"/>
            <a:ext cx="4389120" cy="640080"/>
          </a:xfrm>
          <a:prstGeom prst="roundRect">
            <a:avLst/>
          </a:prstGeom>
          <a:solidFill>
            <a:srgbClr val="FADBD8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Loading法 + 回帰法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個票データ(IPD)が必要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5029200"/>
            <a:ext cx="1920240" cy="36576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7132320" y="5029200"/>
            <a:ext cx="1920240" cy="36576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200400" y="5394960"/>
            <a:ext cx="5760720" cy="73152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ICR Discrepancy (ICRD) = max(ICR) - min(ICR)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+ Prism Forest Plot可視化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6263640"/>
            <a:ext cx="5760720" cy="457200"/>
          </a:xfrm>
          <a:prstGeom prst="roundRect">
            <a:avLst/>
          </a:prstGeom>
          <a:solidFill>
            <a:srgbClr val="F9E79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333333"/>
                </a:solidFill>
                <a:latin typeface="Calibri"/>
              </a:rPr>
              <a:t>メタ解析でI²、τ²とともにICRDを報告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latin typeface="Calibri"/>
              </a:defRPr>
            </a:pPr>
            <a:r>
              <a:t>LINKO研究デザインと検証ワークフロー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1. シミュレーション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(モンテカルロ)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2011680" cy="1371600"/>
          </a:xfrm>
          <a:prstGeom prst="roundRect">
            <a:avLst/>
          </a:prstGeom>
          <a:solidFill>
            <a:srgbClr val="84E8F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シナリA: 均一ICR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シナリB: 異質 ICR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シナリC: 逐次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645920.0"/>
            <a:ext cx="228600" cy="0.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788920" y="1188720"/>
            <a:ext cx="2011680" cy="91440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2. 実データ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(Table 1 ICR)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377440"/>
            <a:ext cx="2011680" cy="1371600"/>
          </a:xfrm>
          <a:prstGeom prst="roundRect">
            <a:avLst/>
          </a:prstGeom>
          <a:solidFill>
            <a:srgbClr val="FFCE7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スタチン(5 RCT)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血糖コントロール(4 RCT)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00600" y="1645920.0"/>
            <a:ext cx="228600" cy="0.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0" y="1188720"/>
            <a:ext cx="2011680" cy="91440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3. PCA検証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(IST個票)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77440"/>
            <a:ext cx="2011680" cy="1371600"/>
          </a:xfrm>
          <a:prstGeom prst="roundRect">
            <a:avLst/>
          </a:prstGeom>
          <a:solidFill>
            <a:srgbClr val="77FEB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19,435名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8か国サブスタディ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25変数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0" y="1645920.0"/>
            <a:ext cx="228600" cy="0.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9480" y="1188720"/>
            <a:ext cx="2011680" cy="91440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4. 可視化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(Prism Forest Plot)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2377440"/>
            <a:ext cx="2011680" cy="1371600"/>
          </a:xfrm>
          <a:prstGeom prst="roundRect">
            <a:avLst/>
          </a:prstGeom>
          <a:solidFill>
            <a:srgbClr val="DE94F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色 = ICR値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サイズ = 副次ICR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サイドパネル = ICR棒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81160" y="1645920.0"/>
            <a:ext cx="228600" cy="0.0"/>
          </a:xfrm>
          <a:prstGeom prst="line">
            <a:avLst/>
          </a:prstGeom>
          <a:ln w="25400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509760" y="118872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5. 収束分析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2377440"/>
            <a:ext cx="2011680" cy="1371600"/>
          </a:xfrm>
          <a:prstGeom prst="roundRect">
            <a:avLst/>
          </a:prstGeom>
          <a:solidFill>
            <a:srgbClr val="FF9C8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500反復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3戦略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ICR誘導選択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latin typeface="Calibri"/>
              </a:rPr>
              <a:t>主要な知見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72000"/>
            <a:ext cx="2011680" cy="4572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シミュレーション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20640"/>
            <a:ext cx="2011680" cy="914400"/>
          </a:xfrm>
          <a:prstGeom prst="roundRect">
            <a:avLst/>
          </a:prstGeom>
          <a:solidFill>
            <a:srgbClr val="84E8F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異質ICR → 高I²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(11.7% vs 11.0%)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4572000"/>
            <a:ext cx="2011680" cy="45720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実データ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5120640"/>
            <a:ext cx="2011680" cy="914400"/>
          </a:xfrm>
          <a:prstGeom prst="roundRect">
            <a:avLst/>
          </a:prstGeom>
          <a:solidFill>
            <a:srgbClr val="FFCE7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低ICRD = 安定MA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高ICRD = 異質MA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4572000"/>
            <a:ext cx="2011680" cy="45720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PCA (IST)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5120640"/>
            <a:ext cx="2011680" cy="914400"/>
          </a:xfrm>
          <a:prstGeom prst="roundRect">
            <a:avLst/>
          </a:prstGeom>
          <a:solidFill>
            <a:srgbClr val="77FEB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ICR_pca × 死亡率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r = 0.90 (p = 0.003)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4572000"/>
            <a:ext cx="2011680" cy="45720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LOO感度分析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69480" y="5120640"/>
            <a:ext cx="2011680" cy="914400"/>
          </a:xfrm>
          <a:prstGeom prst="roundRect">
            <a:avLst/>
          </a:prstGeom>
          <a:solidFill>
            <a:srgbClr val="DE94F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頑健: r = 0.84–0.95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全てp &lt; 0.02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9760" y="4572000"/>
            <a:ext cx="2011680" cy="4572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収束分析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60" y="5120640"/>
            <a:ext cx="2011680" cy="914400"/>
          </a:xfrm>
          <a:prstGeom prst="roundRect">
            <a:avLst/>
          </a:prstGeom>
          <a:solidFill>
            <a:srgbClr val="FF9C8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LINKO: I²&lt;25%までの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Calibri"/>
              </a:rPr>
              <a:t>平均研究数最少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latin typeface="Calibri"/>
              </a:defRPr>
            </a:pPr>
            <a:r>
              <a:t>Prism Forest Plot: 概念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3200400" cy="548640"/>
          </a:xfrm>
          <a:prstGeom prst="roundRect">
            <a:avLst/>
          </a:prstGeom>
          <a:solidFill>
            <a:srgbClr val="7F8C8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標準フォレストプロット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• x軸: 効果量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• 重み: 逆分散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• 全バー同色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✗ ICR情報なし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2286000"/>
            <a:ext cx="1371600" cy="64008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Prism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914400"/>
            <a:ext cx="5486400" cy="5486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LINKO Prism Forest Plot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645920"/>
            <a:ext cx="5486400" cy="68580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x軸: 効果量 (変更なし)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423160"/>
            <a:ext cx="5486400" cy="6858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バーの色 = ICR値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  (暖色=高, 寒色=低)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200400"/>
            <a:ext cx="5486400" cy="685800"/>
          </a:xfrm>
          <a:prstGeom prst="roundRect">
            <a:avLst/>
          </a:prstGeom>
          <a:solidFill>
            <a:srgbClr val="E67E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点のサイズ = 副次ICR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  (例: ICR_pca回帰)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977640"/>
            <a:ext cx="5486400" cy="6858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サイドパネル = ICR棒グラフ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  各研究と整列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0" y="5303520"/>
            <a:ext cx="8503920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プリズムが白色光をスペクトルに分解するように、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Prism Forest Plotはフォレストプロットを分解して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各研究の隠れたICR次元を明らかにする。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図1. データ次元の関数としての理論的ICR</a:t>
            </a:r>
          </a:p>
        </p:txBody>
      </p:sp>
      <p:pic>
        <p:nvPicPr>
          <p:cNvPr id="3" name="Picture 2" descr="fig0_icr_dimension_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480" y="868680"/>
            <a:ext cx="7468735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図2. シミュレーション: シナリA対Bの比較</a:t>
            </a:r>
          </a:p>
        </p:txBody>
      </p:sp>
      <p:pic>
        <p:nvPicPr>
          <p:cNvPr id="3" name="Picture 2" descr="fig1_scenar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662" y="868680"/>
            <a:ext cx="7976371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図3. 逐次メタ解析 (シナリC)</a:t>
            </a:r>
          </a:p>
        </p:txBody>
      </p:sp>
      <p:pic>
        <p:nvPicPr>
          <p:cNvPr id="3" name="Picture 2" descr="fig2_sequential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37945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表1. シミュレーション結果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352647" y="91440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指標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シナリA (均一ICR)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シナリB (異質ICR)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平均I² (SD)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11.0% (17.2)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11.7% (16.0)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平均ICRD (SD)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0.1753 (0.031)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平均プール効果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0.496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効果バイアス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+0.0004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-0.0042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図4. ICR分析: スタチン療法</a:t>
            </a:r>
          </a:p>
        </p:txBody>
      </p:sp>
      <p:pic>
        <p:nvPicPr>
          <p:cNvPr id="3" name="Picture 2" descr="fig_realworld_sta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844" y="868680"/>
            <a:ext cx="614600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図5. ICR分析: 強化血糖コントロール</a:t>
            </a:r>
          </a:p>
        </p:txBody>
      </p:sp>
      <p:pic>
        <p:nvPicPr>
          <p:cNvPr id="3" name="Picture 2" descr="fig_realworld_glucose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1981" y="868680"/>
            <a:ext cx="6147732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表2. スタチン療法RCT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23847" y="914400"/>
          <a:ext cx="9144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ICR_std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Effect Size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4S (1994)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-0.370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WOSCOPS (1995)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-0.250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CARE (1996)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0.091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-0.100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LIPID (1998)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-0.250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AFCAPS (1998)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-0.110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918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66666"/>
                </a:solidFill>
                <a:latin typeface="Calibri"/>
              </a:rPr>
              <a:t>ICRD = 0.009, I² = 0.0%, Pooled = -0.251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表3. 血糖コントロールRCT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23847" y="91440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ICR_std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Effect Size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UKPDS 33 (1998)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0.125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-0.060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ACCORD (2008)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+0.220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ADVANCE (2008)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0.083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-0.070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VADT (2009)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-0.020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66666"/>
                </a:solidFill>
                <a:latin typeface="Calibri"/>
              </a:rPr>
              <a:t>ICRD = 0.048, I² = 17.0%, Pooled = -0.003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図6. PCAベースICR分析 (IST)</a:t>
            </a:r>
          </a:p>
        </p:txBody>
      </p:sp>
      <p:pic>
        <p:nvPicPr>
          <p:cNvPr id="3" name="Picture 2" descr="fig_pca_is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3560" y="868680"/>
            <a:ext cx="748457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表4. IST PCAベースICR (国別)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447" y="91440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/>
                <a:gridCol w="1567542"/>
                <a:gridCol w="1567542"/>
                <a:gridCol w="1567542"/>
                <a:gridCol w="1567542"/>
                <a:gridCol w="1567542"/>
                <a:gridCol w="1567548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Country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Mortality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ICR_std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ICR_pca (loading)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ICR_pca (reg)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PCs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UK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5,787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28.6%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0.138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0.00162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Italy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3,112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Switzerland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1,631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23.1%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0.121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0.00135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Poland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Netherlands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728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18.3%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0.180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0.00136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Sweden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0.00073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Australia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568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15.0%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0.109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0.00096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Argentina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389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66666"/>
                </a:solidFill>
                <a:latin typeface="Calibri"/>
              </a:rPr>
              <a:t>r(ICR_pca_reg, mortality) = 0.90, p = 0.003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図7. Leave-One-Out感度分析</a:t>
            </a:r>
          </a:p>
        </p:txBody>
      </p:sp>
      <p:pic>
        <p:nvPicPr>
          <p:cNvPr id="3" name="Picture 2" descr="fig_loo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755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表5. Leave-One-Out感度分析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23847" y="914400"/>
          <a:ext cx="9144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Excluded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 (loading)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 (regression)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UK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0.169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0.717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0.954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Italy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0.908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Switzerland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0.258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0.914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Poland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0.013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Netherlands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0.526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0.225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0.903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Sweden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0.017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Australia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0.272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0.555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0.875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0.010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Argentina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Full (n=8)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0.265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0.526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0.896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0.003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66666"/>
                </a:solidFill>
                <a:latin typeface="Calibri"/>
              </a:rPr>
              <a:t>Regression-based ICR_pca robust: r = 0.84–0.95, all p &lt; 0.02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図8. Prism Forest Plot: スタチン療法</a:t>
            </a:r>
          </a:p>
        </p:txBody>
      </p:sp>
      <p:pic>
        <p:nvPicPr>
          <p:cNvPr id="3" name="Picture 2" descr="fig_linko_prism_sta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274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  <a:latin typeface="Calibri"/>
              </a:defRPr>
            </a:pPr>
            <a:r>
              <a:t>低ICRD = 0.009: 全研究で均一な色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図9. Prism Forest Plot: 血糖コントロール</a:t>
            </a:r>
          </a:p>
        </p:txBody>
      </p:sp>
      <p:pic>
        <p:nvPicPr>
          <p:cNvPr id="3" name="Picture 2" descr="fig_linko_prism_gluc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307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  <a:latin typeface="Calibri"/>
              </a:defRPr>
            </a:pPr>
            <a:r>
              <a:t>高ICRD = 0.048: 色グラディエントが可視的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図10. Prism Forest Plot: IST国別サブスタディ</a:t>
            </a:r>
          </a:p>
        </p:txBody>
      </p:sp>
      <p:pic>
        <p:nvPicPr>
          <p:cNvPr id="3" name="Picture 2" descr="fig_linko_prism_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11" y="868680"/>
            <a:ext cx="9887072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666666"/>
                </a:solidFill>
                <a:latin typeface="Calibri"/>
              </a:defRPr>
            </a:pPr>
            <a:r>
              <a:t>色 = ICR_pca (loading法), サイズ = ICR_pca (回帰法)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図11. LINKO早期収束分析</a:t>
            </a:r>
          </a:p>
        </p:txBody>
      </p:sp>
      <p:pic>
        <p:nvPicPr>
          <p:cNvPr id="3" name="Picture 2" descr="fig_linko_early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37802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表6. 早期収束結果 (500反復)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447" y="9144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戦略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結論平均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中央値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5以内%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10以内%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I²&lt;25%平均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ランダム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3.94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81.4%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97.2%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3.19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ICRマッチ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LINKO最適化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4.00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77.6%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97.6%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3.14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560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66666"/>
                </a:solidFill>
                <a:latin typeface="Calibri"/>
              </a:rPr>
              <a:t>LINKO: I²&lt;25%までの平均研究数最少 (3.14 vs 3.19–3.20)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latin typeface="Calibri"/>
              </a:defRPr>
            </a:pPr>
            <a:r>
              <a:t>表7. まとめ: ICRアプローチの比較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438247" y="9144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分析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ICR指標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変動 (CV)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関連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スタチン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ICR_std (アプローチ1)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0.041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I² = 0.0% (安定)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血糖コントロール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ICR_std (アプローチ1)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I² = 17.0% (異質)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IST (loading)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ICR_pca (アプローチ2)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0.360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死亡率とr = 0.27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IST (回帰)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ICR_pca_reg (アプローチ2)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0.329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latin typeface="Calibri"/>
                        </a:rPr>
                        <a:t>死亡率とr = 0.90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