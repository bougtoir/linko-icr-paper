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latin typeface="Calibri"/>
              </a:defRPr>
            </a:pPr>
            <a:r>
              <a:t>LINKO (Latent Information Normalization for Key Outcomes)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55555"/>
                </a:solidFill>
                <a:latin typeface="Calibri"/>
              </a:defRPr>
            </a:pPr>
            <a:r>
              <a:t>A Framework for Evaluating the Validity of</a:t>
            </a:r>
            <a:br/>
            <a:r>
              <a:t>Meta-Analytic Pooling Across Heterogeneous RCT 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ICR Concept: Why Data Dimensionality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114800" cy="5486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Study A (D =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65760" cy="7315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365760" cy="73152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latin typeface="Calibri"/>
              </a:defRPr>
            </a:pPr>
            <a:r>
              <a:t>V9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4114800" cy="457200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Calibri"/>
              </a:defRPr>
            </a:pPr>
            <a:r>
              <a:t>ICR = 1/10 = 0.10 (10%)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9601200" cy="5486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Study B (D = 50)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38328" cy="4572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168249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206654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245059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283464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321868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360273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398678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437083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475488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513892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552297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590702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29107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667512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705916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744321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782726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821131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8595360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8979408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9363456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9747504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10131552" y="4389120"/>
            <a:ext cx="338328" cy="457200"/>
          </a:xfrm>
          <a:prstGeom prst="roundRect">
            <a:avLst/>
          </a:prstGeom>
          <a:solidFill>
            <a:srgbClr val="BDC3C7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latin typeface="Calibri"/>
              </a:defRPr>
            </a:pPr>
            <a:r>
              <a:t>...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029200"/>
            <a:ext cx="9601200" cy="45720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latin typeface="Calibri"/>
              </a:defRPr>
            </a:pPr>
            <a:r>
              <a:t>ICR = 1/50 = 0.02 (2%)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5669280"/>
            <a:ext cx="7589520" cy="1005840"/>
          </a:xfrm>
          <a:prstGeom prst="roundRect">
            <a:avLst/>
          </a:prstGeom>
          <a:solidFill>
            <a:srgbClr val="F9E79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latin typeface="Calibri"/>
              </a:defRPr>
            </a:pPr>
            <a:r>
              <a:t>Same endpoint, same effect size estimate</a:t>
            </a:r>
            <a:br/>
            <a:r>
              <a:t>→ But endpoint represents 10% vs 2% of the data space</a:t>
            </a:r>
            <a:br/>
            <a:r>
              <a:t>→ ICRD = 0.08 → Are these truly comparable for pooling?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LINKO Framework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822960"/>
            <a:ext cx="4846320" cy="109728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LINKO</a:t>
            </a:r>
            <a:br/>
            <a:r>
              <a:t>(Latent Information Normalization</a:t>
            </a:r>
            <a:br/>
            <a:r>
              <a:t>for Key Outcomes)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194560"/>
            <a:ext cx="6309360" cy="8229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latin typeface="Calibri"/>
              </a:defRPr>
            </a:pPr>
            <a:r>
              <a:t>Core Question: Does the endpoint carry the same</a:t>
            </a:r>
            <a:br/>
            <a:r>
              <a:t>informational weight in every study?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200400" y="3017520"/>
            <a:ext cx="1371600" cy="4572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89520" y="3017520"/>
            <a:ext cx="1371600" cy="4572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566160"/>
            <a:ext cx="4389120" cy="64008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Approach 1: Variance-based ICR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4389120" cy="64008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Calibri"/>
              </a:defRPr>
            </a:pPr>
            <a:r>
              <a:t>ICR_std = d / D</a:t>
            </a:r>
            <a:br/>
            <a:r>
              <a:t>Computable from published Table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566160"/>
            <a:ext cx="4389120" cy="6400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Approach 2: PCA-based ICR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389120"/>
            <a:ext cx="4389120" cy="640080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latin typeface="Calibri"/>
              </a:defRPr>
            </a:pPr>
            <a:r>
              <a:t>Loading-based + Regression-based</a:t>
            </a:r>
            <a:br/>
            <a:r>
              <a:t>Requires individual patient data (IPD)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5029200"/>
            <a:ext cx="1920240" cy="3657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132320" y="5029200"/>
            <a:ext cx="1920240" cy="3657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0" y="5394960"/>
            <a:ext cx="576072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ICR Discrepancy (ICRD) = max(ICR) - min(ICR)</a:t>
            </a:r>
            <a:br/>
            <a:r>
              <a:t>+ Prism Forest Plot Visualization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6263640"/>
            <a:ext cx="5760720" cy="457200"/>
          </a:xfrm>
          <a:prstGeom prst="roundRect">
            <a:avLst/>
          </a:prstGeom>
          <a:solidFill>
            <a:srgbClr val="F9E79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latin typeface="Calibri"/>
              </a:defRPr>
            </a:pPr>
            <a:r>
              <a:t>Report ICRD alongside I² and τ² in meta-analyses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LINKO Study Design and Validation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011680" cy="9144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Simulation</a:t>
            </a:r>
            <a:br/>
            <a:r>
              <a:t>(Monte Carlo)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011680" cy="1371600"/>
          </a:xfrm>
          <a:prstGeom prst="roundRect">
            <a:avLst/>
          </a:prstGeom>
          <a:solidFill>
            <a:srgbClr val="84E8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Scenario A: Uniform ICR</a:t>
            </a:r>
            <a:br/>
            <a:r>
              <a:t>Scenario B: Heterogeneous ICR</a:t>
            </a:r>
            <a:br/>
            <a:r>
              <a:t>Scenario C: Sequential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188720"/>
            <a:ext cx="2011680" cy="914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Real-World</a:t>
            </a:r>
            <a:br/>
            <a:r>
              <a:t>(Table 1 ICR)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377440"/>
            <a:ext cx="2011680" cy="1371600"/>
          </a:xfrm>
          <a:prstGeom prst="roundRect">
            <a:avLst/>
          </a:prstGeom>
          <a:solidFill>
            <a:srgbClr val="FFCE7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Statin therapy (5 RCTs)</a:t>
            </a:r>
            <a:br/>
            <a:r>
              <a:t>Glucose control (4 RCTs)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1188720"/>
            <a:ext cx="2011680" cy="9144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PCA Validation</a:t>
            </a:r>
            <a:br/>
            <a:r>
              <a:t>(IST IPD)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77440"/>
            <a:ext cx="2011680" cy="1371600"/>
          </a:xfrm>
          <a:prstGeom prst="roundRect">
            <a:avLst/>
          </a:prstGeom>
          <a:solidFill>
            <a:srgbClr val="77FEB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19,435 patients</a:t>
            </a:r>
            <a:br/>
            <a:r>
              <a:t>8 country sub-studies</a:t>
            </a:r>
            <a:br/>
            <a:r>
              <a:t>25 variables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9480" y="1188720"/>
            <a:ext cx="2011680" cy="91440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Visualization</a:t>
            </a:r>
            <a:br/>
            <a:r>
              <a:t>(Prism Forest Plot)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377440"/>
            <a:ext cx="2011680" cy="1371600"/>
          </a:xfrm>
          <a:prstGeom prst="roundRect">
            <a:avLst/>
          </a:prstGeom>
          <a:solidFill>
            <a:srgbClr val="DE94F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Color = ICR value</a:t>
            </a:r>
            <a:br/>
            <a:r>
              <a:t>Size = Secondary ICR</a:t>
            </a:r>
            <a:br/>
            <a:r>
              <a:t>Side panel = ICR bars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1645920.0"/>
            <a:ext cx="228600" cy="0.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188720"/>
            <a:ext cx="201168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Convergence</a:t>
            </a:r>
            <a:br/>
            <a:r>
              <a:t>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377440"/>
            <a:ext cx="2011680" cy="1371600"/>
          </a:xfrm>
          <a:prstGeom prst="roundRect">
            <a:avLst/>
          </a:prstGeom>
          <a:solidFill>
            <a:srgbClr val="FF9C8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500 iterations</a:t>
            </a:r>
            <a:br/>
            <a:r>
              <a:t>3 strategies</a:t>
            </a:r>
            <a:br/>
            <a:r>
              <a:t>ICR-guided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Calibri"/>
              </a:defRPr>
            </a:pPr>
            <a:r>
              <a:t>Key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2011680" cy="4572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2011680" cy="914400"/>
          </a:xfrm>
          <a:prstGeom prst="roundRect">
            <a:avLst/>
          </a:prstGeom>
          <a:solidFill>
            <a:srgbClr val="84E8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Heterogeneous ICR → Higher I²</a:t>
            </a:r>
            <a:br/>
            <a:r>
              <a:t>(11.7% vs 11.0%)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572000"/>
            <a:ext cx="201168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Real-World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120640"/>
            <a:ext cx="2011680" cy="914400"/>
          </a:xfrm>
          <a:prstGeom prst="roundRect">
            <a:avLst/>
          </a:prstGeom>
          <a:solidFill>
            <a:srgbClr val="FFCE7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Low ICRD = Stable MA</a:t>
            </a:r>
            <a:br/>
            <a:r>
              <a:t>High ICRD = Heterogeneous 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4572000"/>
            <a:ext cx="2011680" cy="4572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PCA (IST)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5120640"/>
            <a:ext cx="2011680" cy="914400"/>
          </a:xfrm>
          <a:prstGeom prst="roundRect">
            <a:avLst/>
          </a:prstGeom>
          <a:solidFill>
            <a:srgbClr val="77FEB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ICR_pca × Mortality</a:t>
            </a:r>
            <a:br/>
            <a:r>
              <a:t>r = 0.90 (p = 0.003)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4572000"/>
            <a:ext cx="2011680" cy="45720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LOO Sensitivity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5120640"/>
            <a:ext cx="2011680" cy="914400"/>
          </a:xfrm>
          <a:prstGeom prst="roundRect">
            <a:avLst/>
          </a:prstGeom>
          <a:solidFill>
            <a:srgbClr val="DE94F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Robust: r = 0.84–0.95</a:t>
            </a:r>
            <a:br/>
            <a:r>
              <a:t>All p &lt; 0.02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572000"/>
            <a:ext cx="2011680" cy="4572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Convergence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120640"/>
            <a:ext cx="2011680" cy="914400"/>
          </a:xfrm>
          <a:prstGeom prst="roundRect">
            <a:avLst/>
          </a:prstGeom>
          <a:solidFill>
            <a:srgbClr val="FF9C8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latin typeface="Calibri"/>
              </a:defRPr>
            </a:pPr>
            <a:r>
              <a:t>LINKO: lowest mean</a:t>
            </a:r>
            <a:br/>
            <a:r>
              <a:t>studies to I²&lt;25%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Calibri"/>
              </a:defRPr>
            </a:pPr>
            <a:r>
              <a:t>Prism Forest Plot: Concept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200400" cy="548640"/>
          </a:xfrm>
          <a:prstGeom prst="roundRect">
            <a:avLst/>
          </a:prstGeom>
          <a:solidFill>
            <a:srgbClr val="7F8C8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Standard Forest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• x-axis: Effect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• Study weight: Inverse 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• All bars same 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✗ No ICR information visible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86000"/>
            <a:ext cx="13716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Prism</a:t>
            </a:r>
            <a:br/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914400"/>
            <a:ext cx="5486400" cy="54864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LINKO Prism Forest Plot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486400" cy="6858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x-axis: Effect size (unchanged)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23160"/>
            <a:ext cx="5486400" cy="6858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BAR COLOR = ICR value</a:t>
            </a:r>
            <a:br/>
            <a:r>
              <a:t>  (warm red = high, cool blue = low)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00400"/>
            <a:ext cx="5486400" cy="6858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POINT SIZE = Secondary ICR</a:t>
            </a:r>
            <a:br/>
            <a:r>
              <a:t>  (e.g., ICR_pca regression)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977640"/>
            <a:ext cx="5486400" cy="6858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SIDE PANEL = ICR bar chart</a:t>
            </a:r>
            <a:br/>
            <a:r>
              <a:t>  aligned with each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03520"/>
            <a:ext cx="85039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latin typeface="Calibri"/>
              </a:defRPr>
            </a:pPr>
            <a:r>
              <a:t>Like a prism decomposes white light into its spectrum,</a:t>
            </a:r>
            <a:br/>
            <a:r>
              <a:t>the Prism Forest Plot decomposes the forest plot to reveal</a:t>
            </a:r>
            <a:br/>
            <a:r>
              <a:t>hidden ICR dimensions of each study.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1. Theoretical ICR as a Function of Data Dimensionality</a:t>
            </a:r>
          </a:p>
        </p:txBody>
      </p:sp>
      <p:pic>
        <p:nvPicPr>
          <p:cNvPr id="3" name="Picture 2" descr="fig0_icr_dimension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80" y="868680"/>
            <a:ext cx="746873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2. Simulation: Scenario A vs B Comparison</a:t>
            </a:r>
          </a:p>
        </p:txBody>
      </p:sp>
      <p:pic>
        <p:nvPicPr>
          <p:cNvPr id="3" name="Picture 2" descr="fig1_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62" y="868680"/>
            <a:ext cx="797637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3. Sequential Meta-Analysis (Scenario C)</a:t>
            </a:r>
          </a:p>
        </p:txBody>
      </p:sp>
      <p:pic>
        <p:nvPicPr>
          <p:cNvPr id="3" name="Picture 2" descr="fig2_sequenti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3794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1. Simulation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52647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A (Uniform ICR)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B (Heterogeneous ICR)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Mean I² (SD)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11.0% (17.2)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11.7% (16.0)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Mean ICRD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0.1753 (0.031)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Mean Pooled Effect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0.496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Effect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+0.0004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4. ICR Analysis: Statin Therapy</a:t>
            </a:r>
          </a:p>
        </p:txBody>
      </p:sp>
      <p:pic>
        <p:nvPicPr>
          <p:cNvPr id="3" name="Picture 2" descr="fig_realworld_sta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844" y="868680"/>
            <a:ext cx="614600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5. ICR Analysis: Intensive Glucose Control</a:t>
            </a:r>
          </a:p>
        </p:txBody>
      </p:sp>
      <p:pic>
        <p:nvPicPr>
          <p:cNvPr id="3" name="Picture 2" descr="fig_realworld_glucos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981" y="868680"/>
            <a:ext cx="61477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2. Statin Therapy RCTs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91440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ICR_std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4S (1994)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-0.370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WOSCOPS (1995)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-0.250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CARE (1996)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0.091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LIPID (1998)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-0.250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AFCAPS (1998)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-0.110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ICRD = 0.009, I² = 0.0%, Pooled = -0.251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3. Glucose Control RCTs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9144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ICR_std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UKPDS 33 (1998)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0.125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ACCORD (2008)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+0.220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ADVANCE (2008)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0.083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VADT (2009)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ICRD = 0.048, I² = 17.0%, Pooled = -0.003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6. PCA-Based ICR Analysis (IST)</a:t>
            </a:r>
          </a:p>
        </p:txBody>
      </p:sp>
      <p:pic>
        <p:nvPicPr>
          <p:cNvPr id="3" name="Picture 2" descr="fig_pca_is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60" y="868680"/>
            <a:ext cx="748457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4. IST PCA-Based ICR by Country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447" y="9144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Mortality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ICR_std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ICR_pca (loading)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ICR_pca (reg)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5,787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0.00162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Switzerland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1,631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0.121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0.00135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Poland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Netherlands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728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0.180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0.00136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Australia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568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0.109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Argentina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r(ICR_pca_reg, mortality) = 0.90, p = 0.003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7. Leave-One-Out Sensitivity Analysis</a:t>
            </a:r>
          </a:p>
        </p:txBody>
      </p:sp>
      <p:pic>
        <p:nvPicPr>
          <p:cNvPr id="3" name="Picture 2" descr="fig_lo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75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5. Leave-One-Out Sensitivity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3847" y="9144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Excluded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 (loading)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 (regression)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Switzerland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0.258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0.914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Poland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Netherlands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0.903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Sweden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Australia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0.272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0.555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0.875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Argentina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Full (n=8)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0.265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Regression-based ICR_pca robust: r = 0.84–0.95, all p &lt; 0.02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8. LINKO Prism Forest Plot: Statin Therapy</a:t>
            </a:r>
          </a:p>
        </p:txBody>
      </p:sp>
      <p:pic>
        <p:nvPicPr>
          <p:cNvPr id="3" name="Picture 2" descr="fig_linko_prism_sta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274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  <a:latin typeface="Calibri"/>
              </a:defRPr>
            </a:pPr>
            <a:r>
              <a:t>Low ICRD = 0.009: uniform color across all studies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9. LINKO Prism Forest Plot: Glucose Control</a:t>
            </a:r>
          </a:p>
        </p:txBody>
      </p:sp>
      <p:pic>
        <p:nvPicPr>
          <p:cNvPr id="3" name="Picture 2" descr="fig_linko_prism_gluc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30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  <a:latin typeface="Calibri"/>
              </a:defRPr>
            </a:pPr>
            <a:r>
              <a:t>High ICRD = 0.048: visible color gradient (UKPDS warm vs ACCORD cool)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10. LINKO Prism Forest Plot: IST Country Sub-Studies</a:t>
            </a:r>
          </a:p>
        </p:txBody>
      </p:sp>
      <p:pic>
        <p:nvPicPr>
          <p:cNvPr id="3" name="Picture 2" descr="fig_linko_prism_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11" y="868680"/>
            <a:ext cx="9887072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  <a:latin typeface="Calibri"/>
              </a:defRPr>
            </a:pPr>
            <a:r>
              <a:t>Color = ICR_pca (loading), Size = ICR_pca (regression)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Figure 11. LINKO Early Convergence Analysis</a:t>
            </a:r>
          </a:p>
        </p:txBody>
      </p:sp>
      <p:pic>
        <p:nvPicPr>
          <p:cNvPr id="3" name="Picture 2" descr="fig_linko_early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37802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6. Early Convergence Results (500 iterations)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447" y="9144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to conclusion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by 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by 10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to I²&lt;25%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3.94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81.4%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3.19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ICR-matched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LINKO optimized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4.00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77.6%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3.14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LINKO achieved lowest mean studies for I² &lt; 25% (3.14 vs 3.19–3.20)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latin typeface="Calibri"/>
              </a:defRPr>
            </a:pPr>
            <a:r>
              <a:t>Table 7. Summary: ICR Approaches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438247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ICR Measure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Variation (CV)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Association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Statin therapy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ICR_std (Approach 1)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I² = 0.0% (stable)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Glucose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ICR_std (Approach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I² = 17.0% (heterogeneous)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IST (loading)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ICR_pca (Approach 2)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0.360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r = 0.27 with mortality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IST (regression)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ICR_pca_reg (Approach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r = 0.90 with mortality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