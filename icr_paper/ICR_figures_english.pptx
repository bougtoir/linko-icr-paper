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latin typeface="Calibri"/>
              </a:defRPr>
            </a:pPr>
            <a:r>
              <a:t>LINKO (Latent Information Normalization for Key Outcomes)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555555"/>
                </a:solidFill>
                <a:latin typeface="Calibri"/>
              </a:defRPr>
            </a:pPr>
            <a:r>
              <a:t>A Framework for Evaluating the Validity of</a:t>
            </a:r>
            <a:br/>
            <a:r>
              <a:t>Meta-Analytic Pooling Across Heterogeneous RCT Data Structures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latin typeface="Calibri"/>
              </a:defRPr>
            </a:pPr>
            <a:r>
              <a:t>ICR Concept: Why Data Dimensionality Matters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4114800" cy="548640"/>
          </a:xfrm>
          <a:prstGeom prst="roundRect">
            <a:avLst/>
          </a:prstGeom>
          <a:solidFill>
            <a:srgbClr val="2C3E5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Study A (D = 10)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365760" cy="73152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743200"/>
            <a:ext cx="4114800" cy="457200"/>
          </a:xfrm>
          <a:prstGeom prst="roundRect">
            <a:avLst/>
          </a:prstGeom>
          <a:solidFill>
            <a:srgbClr val="FADBD8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ICR = 1/10 = 0.10 (10%)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57600"/>
            <a:ext cx="9601200" cy="548640"/>
          </a:xfrm>
          <a:prstGeom prst="roundRect">
            <a:avLst/>
          </a:prstGeom>
          <a:solidFill>
            <a:srgbClr val="2C3E5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Study B (D = 50)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389120"/>
            <a:ext cx="338328" cy="4572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98448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82496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66544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50592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8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2736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86784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2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38928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22976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07024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91072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59168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43216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27264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11312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79408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63456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47504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31552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>...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5029200"/>
            <a:ext cx="9601200" cy="45720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ICR = 1/50 = 0.02 (2%)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86000" y="5669280"/>
            <a:ext cx="7589520" cy="1005840"/>
          </a:xfrm>
          <a:prstGeom prst="roundRect">
            <a:avLst/>
          </a:prstGeom>
          <a:solidFill>
            <a:srgbClr val="F9E79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Same endpoint, same effect size estimate</a:t>
            </a:r>
          </a:p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→ But endpoint represents 10% vs 2% of the data space</a:t>
            </a:r>
          </a:p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→ ICRD = 0.08 → Are these truly comparable for pooling?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latin typeface="Calibri"/>
              </a:defRPr>
            </a:pPr>
            <a:r>
              <a:t>LINKO Framework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822960"/>
            <a:ext cx="4846320" cy="1097280"/>
          </a:xfrm>
          <a:prstGeom prst="roundRect">
            <a:avLst/>
          </a:prstGeom>
          <a:solidFill>
            <a:srgbClr val="2C3E5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LINKO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(Latent Information Normalization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for Key Outcomes)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194560"/>
            <a:ext cx="6309360" cy="82296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Core Question: Does the endpoint carry the same</a:t>
            </a:r>
          </a:p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informational weight in every study?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3200400" y="3017520"/>
            <a:ext cx="1371600" cy="45720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589520" y="3017520"/>
            <a:ext cx="1371600" cy="45720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566160"/>
            <a:ext cx="4389120" cy="64008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Approach 1: Variance-based ICR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89120"/>
            <a:ext cx="4389120" cy="64008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ICR_std = d / D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Computable from published Table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566160"/>
            <a:ext cx="4389120" cy="64008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Approach 2: PCA-based ICR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389120"/>
            <a:ext cx="4389120" cy="640080"/>
          </a:xfrm>
          <a:prstGeom prst="roundRect">
            <a:avLst/>
          </a:prstGeom>
          <a:solidFill>
            <a:srgbClr val="FADBD8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Loading-based + Regression-based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Requires individual patient data (IPD)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5029200"/>
            <a:ext cx="1920240" cy="36576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132320" y="5029200"/>
            <a:ext cx="1920240" cy="36576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00400" y="5394960"/>
            <a:ext cx="5760720" cy="73152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ICR Discrepancy (ICRD) = max(ICR) - min(ICR)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+ Prism Forest Plot Visualization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6263640"/>
            <a:ext cx="5760720" cy="457200"/>
          </a:xfrm>
          <a:prstGeom prst="roundRect">
            <a:avLst/>
          </a:prstGeom>
          <a:solidFill>
            <a:srgbClr val="F9E79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333333"/>
                </a:solidFill>
                <a:latin typeface="Calibri"/>
              </a:rPr>
              <a:t>Report ICRD alongside I² and τ² in meta-analyses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latin typeface="Calibri"/>
              </a:defRPr>
            </a:pPr>
            <a:r>
              <a:t>LINKO Study Design and Validation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Simulation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(Monte Carlo)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2011680" cy="1371600"/>
          </a:xfrm>
          <a:prstGeom prst="roundRect">
            <a:avLst/>
          </a:prstGeom>
          <a:solidFill>
            <a:srgbClr val="84E8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Scenario A: Uniform ICR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Scenario B: Heterogeneous ICR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Scenario C: Sequential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645920.0"/>
            <a:ext cx="228600" cy="0.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88920" y="1188720"/>
            <a:ext cx="2011680" cy="9144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Real-World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(Table 1 ICR)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377440"/>
            <a:ext cx="2011680" cy="1371600"/>
          </a:xfrm>
          <a:prstGeom prst="roundRect">
            <a:avLst/>
          </a:prstGeom>
          <a:solidFill>
            <a:srgbClr val="FFCE7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Statin therapy (5 RCTs)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Glucose control (4 RCTs)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00600" y="1645920.0"/>
            <a:ext cx="228600" cy="0.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0" y="1188720"/>
            <a:ext cx="2011680" cy="91440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PCA Validation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(IST IPD)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77440"/>
            <a:ext cx="2011680" cy="1371600"/>
          </a:xfrm>
          <a:prstGeom prst="roundRect">
            <a:avLst/>
          </a:prstGeom>
          <a:solidFill>
            <a:srgbClr val="77FEB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19,435 patients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8 country sub-studies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25 variables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1645920.0"/>
            <a:ext cx="228600" cy="0.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9480" y="1188720"/>
            <a:ext cx="2011680" cy="91440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Visualization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(Prism Forest Plot)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2377440"/>
            <a:ext cx="2011680" cy="1371600"/>
          </a:xfrm>
          <a:prstGeom prst="roundRect">
            <a:avLst/>
          </a:prstGeom>
          <a:solidFill>
            <a:srgbClr val="DE94F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Color = ICR value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Size = Secondary ICR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Side panel = ICR bars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81160" y="1645920.0"/>
            <a:ext cx="228600" cy="0.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09760" y="118872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Convergence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2377440"/>
            <a:ext cx="2011680" cy="1371600"/>
          </a:xfrm>
          <a:prstGeom prst="roundRect">
            <a:avLst/>
          </a:prstGeom>
          <a:solidFill>
            <a:srgbClr val="FF9C8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500 iterations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3 strategies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ICR-guided selection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latin typeface="Calibri"/>
              </a:rPr>
              <a:t>Key Findings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72000"/>
            <a:ext cx="2011680" cy="4572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Simulation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20640"/>
            <a:ext cx="2011680" cy="914400"/>
          </a:xfrm>
          <a:prstGeom prst="roundRect">
            <a:avLst/>
          </a:prstGeom>
          <a:solidFill>
            <a:srgbClr val="84E8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Heterogeneous ICR → Higher I²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(11.7% vs 11.0%)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4572000"/>
            <a:ext cx="2011680" cy="4572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Real-World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5120640"/>
            <a:ext cx="2011680" cy="914400"/>
          </a:xfrm>
          <a:prstGeom prst="roundRect">
            <a:avLst/>
          </a:prstGeom>
          <a:solidFill>
            <a:srgbClr val="FFCE7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Low ICRD = Stable MA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High ICRD = Heterogeneous 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4572000"/>
            <a:ext cx="2011680" cy="45720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PCA (IST)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5120640"/>
            <a:ext cx="2011680" cy="914400"/>
          </a:xfrm>
          <a:prstGeom prst="roundRect">
            <a:avLst/>
          </a:prstGeom>
          <a:solidFill>
            <a:srgbClr val="77FEB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ICR_pca × Mortality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r = 0.90 (p = 0.003)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4572000"/>
            <a:ext cx="2011680" cy="45720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LOO Sensitivity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69480" y="5120640"/>
            <a:ext cx="2011680" cy="914400"/>
          </a:xfrm>
          <a:prstGeom prst="roundRect">
            <a:avLst/>
          </a:prstGeom>
          <a:solidFill>
            <a:srgbClr val="DE94F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Robust: r = 0.84–0.95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All p &lt; 0.02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9760" y="4572000"/>
            <a:ext cx="2011680" cy="4572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Convergence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5120640"/>
            <a:ext cx="2011680" cy="914400"/>
          </a:xfrm>
          <a:prstGeom prst="roundRect">
            <a:avLst/>
          </a:prstGeom>
          <a:solidFill>
            <a:srgbClr val="FF9C8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LINKO: lowest mean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studies to I²&lt;25%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latin typeface="Calibri"/>
              </a:defRPr>
            </a:pPr>
            <a:r>
              <a:t>Prism Forest Plot: Concept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3200400" cy="548640"/>
          </a:xfrm>
          <a:prstGeom prst="roundRect">
            <a:avLst/>
          </a:prstGeom>
          <a:solidFill>
            <a:srgbClr val="7F8C8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Standard Forest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• x-axis: Effect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• Study weight: Inverse variance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• All bars same color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✗ No ICR information visible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286000"/>
            <a:ext cx="1371600" cy="64008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Prism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914400"/>
            <a:ext cx="5486400" cy="5486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LINKO Prism Forest Plot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645920"/>
            <a:ext cx="5486400" cy="68580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x-axis: Effect size (unchanged)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423160"/>
            <a:ext cx="5486400" cy="6858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BAR COLOR = ICR value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  (warm red = high, cool blue = low)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200400"/>
            <a:ext cx="5486400" cy="6858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POINT SIZE = Secondary ICR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  (e.g., ICR_pca regression)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977640"/>
            <a:ext cx="5486400" cy="6858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SIDE PANEL = ICR bar chart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  aligned with each study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0" y="5303520"/>
            <a:ext cx="8503920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Like a prism decomposes white light into its spectrum,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the Prism Forest Plot decomposes the forest plot to reveal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hidden ICR dimensions of each study.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1. Theoretical ICR as a Function of Data Dimensionality</a:t>
            </a:r>
          </a:p>
        </p:txBody>
      </p:sp>
      <p:pic>
        <p:nvPicPr>
          <p:cNvPr id="3" name="Picture 2" descr="fig0_icr_dimension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480" y="868680"/>
            <a:ext cx="7468735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2. Simulation: Scenario A vs B Comparison</a:t>
            </a:r>
          </a:p>
        </p:txBody>
      </p:sp>
      <p:pic>
        <p:nvPicPr>
          <p:cNvPr id="3" name="Picture 2" descr="fig1_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662" y="868680"/>
            <a:ext cx="7976371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3. Sequential Meta-Analysis (Scenario C)</a:t>
            </a:r>
          </a:p>
        </p:txBody>
      </p:sp>
      <p:pic>
        <p:nvPicPr>
          <p:cNvPr id="3" name="Picture 2" descr="fig2_sequential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37945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Table 1. Simulation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352647" y="9144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 A (Uniform ICR)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 B (Heterogeneous ICR)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Mean I² (SD)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11.0% (17.2)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11.7% (16.0)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Mean ICRD (SD)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0.1753 (0.031)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Mean Pooled Effect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0.496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Effect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+0.0004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-0.0042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4. ICR Analysis: Statin Therapy</a:t>
            </a:r>
          </a:p>
        </p:txBody>
      </p:sp>
      <p:pic>
        <p:nvPicPr>
          <p:cNvPr id="3" name="Picture 2" descr="fig_realworld_sta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844" y="868680"/>
            <a:ext cx="614600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5. ICR Analysis: Intensive Glucose Control</a:t>
            </a:r>
          </a:p>
        </p:txBody>
      </p:sp>
      <p:pic>
        <p:nvPicPr>
          <p:cNvPr id="3" name="Picture 2" descr="fig_realworld_glucose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981" y="868680"/>
            <a:ext cx="6147732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Table 2. Statin Therapy RCTs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23847" y="914400"/>
          <a:ext cx="9144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ICR_std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Effect Size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4S (1994)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-0.370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WOSCOPS (1995)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-0.250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CARE (1996)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0.091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-0.100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LIPID (1998)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-0.250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AFCAPS (1998)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-0.110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91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Calibri"/>
              </a:rPr>
              <a:t>ICRD = 0.009, I² = 0.0%, Pooled = -0.251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Table 3. Glucose Control RCTs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23847" y="91440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ICR_std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Effect Size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UKPDS 33 (1998)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0.125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-0.060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ACCORD (2008)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+0.220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ADVANCE (2008)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0.083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-0.070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VADT (2009)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-0.020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Calibri"/>
              </a:rPr>
              <a:t>ICRD = 0.048, I² = 17.0%, Pooled = -0.003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6. PCA-Based ICR Analysis (IST)</a:t>
            </a:r>
          </a:p>
        </p:txBody>
      </p:sp>
      <p:pic>
        <p:nvPicPr>
          <p:cNvPr id="3" name="Picture 2" descr="fig_pca_is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3560" y="868680"/>
            <a:ext cx="748457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Table 4. IST PCA-Based ICR by Country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447" y="91440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Country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Mortality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ICR_std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ICR_pca (loading)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ICR_pca (reg)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PCs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UK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5,787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28.6%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0.138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0.00162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Italy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3,112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Switzerland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1,631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23.1%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0.121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0.00135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Poland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Netherlands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728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18.3%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0.180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0.00136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Sweden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0.00073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Australia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568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15.0%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0.109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0.00096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Argentina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89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Calibri"/>
              </a:rPr>
              <a:t>r(ICR_pca_reg, mortality) = 0.90, p = 0.003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7. Leave-One-Out Sensitivity Analysis</a:t>
            </a:r>
          </a:p>
        </p:txBody>
      </p:sp>
      <p:pic>
        <p:nvPicPr>
          <p:cNvPr id="3" name="Picture 2" descr="fig_loo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755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Table 5. Leave-One-Out Sensitivity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23847" y="91440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Excluded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 (loading)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 (regression)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UK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0.169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0.717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0.954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Italy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0.908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Switzerland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0.258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0.914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Poland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0.013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Netherlands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0.526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0.225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0.903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Sweden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0.017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Australia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0.272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0.555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0.875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0.010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Argentina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Full (n=8)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0.265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0.526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0.896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0.003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Calibri"/>
              </a:rPr>
              <a:t>Regression-based ICR_pca robust: r = 0.84–0.95, all p &lt; 0.02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8. LINKO Prism Forest Plot: Statin Therapy</a:t>
            </a:r>
          </a:p>
        </p:txBody>
      </p:sp>
      <p:pic>
        <p:nvPicPr>
          <p:cNvPr id="3" name="Picture 2" descr="fig_linko_prism_sta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274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  <a:latin typeface="Calibri"/>
              </a:defRPr>
            </a:pPr>
            <a:r>
              <a:t>Low ICRD = 0.009: uniform color across all studies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9. LINKO Prism Forest Plot: Glucose Control</a:t>
            </a:r>
          </a:p>
        </p:txBody>
      </p:sp>
      <p:pic>
        <p:nvPicPr>
          <p:cNvPr id="3" name="Picture 2" descr="fig_linko_prism_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307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  <a:latin typeface="Calibri"/>
              </a:defRPr>
            </a:pPr>
            <a:r>
              <a:t>High ICRD = 0.048: visible color gradient (UKPDS warm vs ACCORD cool)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10. LINKO Prism Forest Plot: IST Country Sub-Studies</a:t>
            </a:r>
          </a:p>
        </p:txBody>
      </p:sp>
      <p:pic>
        <p:nvPicPr>
          <p:cNvPr id="3" name="Picture 2" descr="fig_linko_prism_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11" y="868680"/>
            <a:ext cx="9887072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  <a:latin typeface="Calibri"/>
              </a:defRPr>
            </a:pPr>
            <a:r>
              <a:t>Color = ICR_pca (loading), Size = ICR_pca (regression)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Figure 11. LINKO Early Convergence Analysis</a:t>
            </a:r>
          </a:p>
        </p:txBody>
      </p:sp>
      <p:pic>
        <p:nvPicPr>
          <p:cNvPr id="3" name="Picture 2" descr="fig_linko_early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37802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Table 6. Early Convergence Results (500 iterations)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447" y="9144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to conclusion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 by 5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 by 10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to I²&lt;25%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Random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3.94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81.4%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97.2%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3.19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ICR-matched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LINKO optimized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4.00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77.6%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97.6%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3.14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560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Calibri"/>
              </a:rPr>
              <a:t>LINKO achieved lowest mean studies for I² &lt; 25% (3.14 vs 3.19–3.20)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Table 7. Summary: ICR Approaches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438247" y="9144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Analysis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 Measure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Variation (CV)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Association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Statin therapy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ICR_std (Approach 1)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I² = 0.0% (stable)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Glucose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ICR_std (Approach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I² = 17.0% (heterogeneous)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IST (loading)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ICR_pca (Approach 2)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0.360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r = 0.27 with mortality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IST (regression)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ICR_pca_reg (Approach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r = 0.90 with mortality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