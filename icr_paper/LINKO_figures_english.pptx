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22222"/>
                </a:solidFill>
                <a:latin typeface="Calibri"/>
              </a:rPr>
              <a:t>The Information Contribution Ratio: a reproducible descriptor of endpoint informational weight in meta-analysis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55555"/>
                </a:solidFill>
                <a:latin typeface="Calibri"/>
              </a:rPr>
              <a:t>Editable figures (7), generated from results/results.json on 2026-08-03T07:43:43Z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22222"/>
                </a:solidFill>
                <a:latin typeface="Calibri"/>
              </a:rPr>
              <a:t>Figure 1</a:t>
            </a:r>
          </a:p>
        </p:txBody>
      </p:sp>
      <p:pic>
        <p:nvPicPr>
          <p:cNvPr id="3" name="Picture 2" descr="fig0_icr_dimension_relations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364" y="868680"/>
            <a:ext cx="6952967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44444"/>
                </a:solidFill>
                <a:latin typeface="Calibri"/>
              </a:rPr>
              <a:t>Figure 1. Relationship between the number of measured variables and the dimension-counting Information Contribution Ratio (ICR_std = d/D) for a single endpoint. The curve is deterministic and illustrates why the measure is dominated by variable counting.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22222"/>
                </a:solidFill>
                <a:latin typeface="Calibri"/>
              </a:rPr>
              <a:t>Figure 2</a:t>
            </a:r>
          </a:p>
        </p:txBody>
      </p:sp>
      <p:pic>
        <p:nvPicPr>
          <p:cNvPr id="3" name="Picture 2" descr="fig1_scenario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080" y="868680"/>
            <a:ext cx="7457535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44444"/>
                </a:solidFill>
                <a:latin typeface="Calibri"/>
              </a:rPr>
              <a:t>Figure 2. Simulation results for the uniform-ICR (Scenario A) and heterogeneous-ICR (Scenario B) designs: distributions of I-squared, tau-squared, ICR discrepancy and the pooled effect.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22222"/>
                </a:solidFill>
                <a:latin typeface="Calibri"/>
              </a:rPr>
              <a:t>Figure 3</a:t>
            </a:r>
          </a:p>
        </p:txBody>
      </p:sp>
      <p:pic>
        <p:nvPicPr>
          <p:cNvPr id="3" name="Picture 2" descr="fig_linko_prism_stat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868680"/>
            <a:ext cx="10972800" cy="46286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44444"/>
                </a:solidFill>
                <a:latin typeface="Calibri"/>
              </a:rPr>
              <a:t>Figure 3. Prism forest plot for the statin collection. Marker colour encodes ICR_std; the side panel lists the values. The display is descriptive.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22222"/>
                </a:solidFill>
                <a:latin typeface="Calibri"/>
              </a:rPr>
              <a:t>Figure 4</a:t>
            </a:r>
          </a:p>
        </p:txBody>
      </p:sp>
      <p:pic>
        <p:nvPicPr>
          <p:cNvPr id="3" name="Picture 2" descr="fig_linko_prism_glucose_con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868680"/>
            <a:ext cx="10972800" cy="46358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44444"/>
                </a:solidFill>
                <a:latin typeface="Calibri"/>
              </a:rPr>
              <a:t>Figure 4. Prism forest plot for the intensive glucose-control collection.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22222"/>
                </a:solidFill>
                <a:latin typeface="Calibri"/>
              </a:rPr>
              <a:t>Figure 5</a:t>
            </a:r>
          </a:p>
        </p:txBody>
      </p:sp>
      <p:pic>
        <p:nvPicPr>
          <p:cNvPr id="3" name="Picture 2" descr="fig_pca_ist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2599" y="868680"/>
            <a:ext cx="6946496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44444"/>
                </a:solidFill>
                <a:latin typeface="Calibri"/>
              </a:rPr>
              <a:t>Figure 5. Principal-component-based ICR in eight International Stroke Trial country groups: estimator values, their dispersion, and their relation to 14-day mortality.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22222"/>
                </a:solidFill>
                <a:latin typeface="Calibri"/>
              </a:rPr>
              <a:t>Figure 6</a:t>
            </a:r>
          </a:p>
        </p:txBody>
      </p:sp>
      <p:pic>
        <p:nvPicPr>
          <p:cNvPr id="3" name="Picture 2" descr="fig_loo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868680"/>
            <a:ext cx="10972800" cy="41577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44444"/>
                </a:solidFill>
                <a:latin typeface="Calibri"/>
              </a:rPr>
              <a:t>Figure 6. Leave-one-out recomputation of the association between each PCA-based ICR estimator and 14-day mortality across the eight country groups.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22222"/>
                </a:solidFill>
                <a:latin typeface="Calibri"/>
              </a:rPr>
              <a:t>Figure 7</a:t>
            </a:r>
          </a:p>
        </p:txBody>
      </p:sp>
      <p:pic>
        <p:nvPicPr>
          <p:cNvPr id="3" name="Picture 2" descr="fig_linko_prism_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895" y="868680"/>
            <a:ext cx="9179905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44444"/>
                </a:solidFill>
                <a:latin typeface="Calibri"/>
              </a:rPr>
              <a:t>Figure 7. Prism forest plot for the International Stroke Trial country groups, with colour encoding the loading-based estimator and marker size the regression-based estimator. Rates are shown for display; the groups are not independent trials.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